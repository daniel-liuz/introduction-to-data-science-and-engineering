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15" r:id="rId3"/>
    <p:sldId id="276" r:id="rId5"/>
    <p:sldId id="316" r:id="rId6"/>
    <p:sldId id="347" r:id="rId7"/>
    <p:sldId id="358" r:id="rId8"/>
    <p:sldId id="349" r:id="rId9"/>
    <p:sldId id="282" r:id="rId10"/>
    <p:sldId id="317" r:id="rId11"/>
    <p:sldId id="283" r:id="rId12"/>
    <p:sldId id="348" r:id="rId13"/>
    <p:sldId id="351" r:id="rId14"/>
    <p:sldId id="352" r:id="rId15"/>
    <p:sldId id="350" r:id="rId16"/>
    <p:sldId id="326" r:id="rId17"/>
    <p:sldId id="335" r:id="rId18"/>
    <p:sldId id="338" r:id="rId19"/>
    <p:sldId id="336" r:id="rId20"/>
    <p:sldId id="354" r:id="rId21"/>
    <p:sldId id="355" r:id="rId22"/>
    <p:sldId id="356" r:id="rId23"/>
    <p:sldId id="357" r:id="rId24"/>
    <p:sldId id="359" r:id="rId25"/>
    <p:sldId id="277" r:id="rId26"/>
  </p:sldIdLst>
  <p:sldSz cx="12192000" cy="6858000"/>
  <p:notesSz cx="6858000" cy="9144000"/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4B24"/>
    <a:srgbClr val="EB3B29"/>
    <a:srgbClr val="F93B07"/>
    <a:srgbClr val="FF3F3F"/>
    <a:srgbClr val="7F7F7F"/>
    <a:srgbClr val="FFFFFF"/>
    <a:srgbClr val="B2B2B2"/>
    <a:srgbClr val="005CA1"/>
    <a:srgbClr val="004A82"/>
    <a:srgbClr val="0035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16" autoAdjust="0"/>
    <p:restoredTop sz="99274" autoAdjust="0"/>
  </p:normalViewPr>
  <p:slideViewPr>
    <p:cSldViewPr snapToGrid="0" showGuides="1">
      <p:cViewPr varScale="1">
        <p:scale>
          <a:sx n="82" d="100"/>
          <a:sy n="82" d="100"/>
        </p:scale>
        <p:origin x="48" y="129"/>
      </p:cViewPr>
      <p:guideLst>
        <p:guide orient="horz" pos="215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gs" Target="tags/tag23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A552A8-ECE7-49AA-8726-BE90DBC119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亮亮图文旗舰店</a:t>
            </a:r>
            <a:endParaRPr lang="zh-CN" altLang="en-US" dirty="0"/>
          </a:p>
          <a:p>
            <a:r>
              <a:rPr lang="en-US" altLang="zh-CN" dirty="0"/>
              <a:t>https://liangliangtuwen.tmall.com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亮亮图文旗舰店</a:t>
            </a:r>
            <a:endParaRPr lang="zh-CN" altLang="en-US" dirty="0"/>
          </a:p>
          <a:p>
            <a:r>
              <a:rPr lang="en-US" altLang="zh-CN"/>
              <a:t>https://liangliangtuwen.tmall.com</a:t>
            </a:r>
            <a:endParaRPr lang="en-US" altLang="zh-CN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17F9E5-2C3F-427E-9E18-8DB1205C1B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635508-54A0-4FB0-A4C5-6467DE85E92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4" Type="http://schemas.openxmlformats.org/officeDocument/2006/relationships/notesSlide" Target="../notesSlides/notesSlide2.xml"/><Relationship Id="rId23" Type="http://schemas.openxmlformats.org/officeDocument/2006/relationships/slideLayout" Target="../slideLayouts/slideLayout2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705866" y="0"/>
            <a:ext cx="2780268" cy="3063728"/>
            <a:chOff x="4705866" y="0"/>
            <a:chExt cx="2780268" cy="3063728"/>
          </a:xfrm>
        </p:grpSpPr>
        <p:sp>
          <p:nvSpPr>
            <p:cNvPr id="28" name="任意多边形 27"/>
            <p:cNvSpPr/>
            <p:nvPr/>
          </p:nvSpPr>
          <p:spPr>
            <a:xfrm>
              <a:off x="4705866" y="0"/>
              <a:ext cx="2780268" cy="3063728"/>
            </a:xfrm>
            <a:custGeom>
              <a:avLst/>
              <a:gdLst>
                <a:gd name="connsiteX0" fmla="*/ 0 w 2780268"/>
                <a:gd name="connsiteY0" fmla="*/ 0 h 3063728"/>
                <a:gd name="connsiteX1" fmla="*/ 2780268 w 2780268"/>
                <a:gd name="connsiteY1" fmla="*/ 0 h 3063728"/>
                <a:gd name="connsiteX2" fmla="*/ 2780268 w 2780268"/>
                <a:gd name="connsiteY2" fmla="*/ 1673594 h 3063728"/>
                <a:gd name="connsiteX3" fmla="*/ 1390134 w 2780268"/>
                <a:gd name="connsiteY3" fmla="*/ 3063728 h 3063728"/>
                <a:gd name="connsiteX4" fmla="*/ 0 w 2780268"/>
                <a:gd name="connsiteY4" fmla="*/ 1673594 h 3063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0268" h="3063728">
                  <a:moveTo>
                    <a:pt x="0" y="0"/>
                  </a:moveTo>
                  <a:lnTo>
                    <a:pt x="2780268" y="0"/>
                  </a:lnTo>
                  <a:lnTo>
                    <a:pt x="2780268" y="1673594"/>
                  </a:lnTo>
                  <a:cubicBezTo>
                    <a:pt x="2780268" y="2441344"/>
                    <a:pt x="2157884" y="3063728"/>
                    <a:pt x="1390134" y="3063728"/>
                  </a:cubicBezTo>
                  <a:cubicBezTo>
                    <a:pt x="622384" y="3063728"/>
                    <a:pt x="0" y="2441344"/>
                    <a:pt x="0" y="1673594"/>
                  </a:cubicBezTo>
                  <a:close/>
                </a:path>
              </a:pathLst>
            </a:custGeom>
            <a:solidFill>
              <a:srgbClr val="A31E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4875891" y="408799"/>
              <a:ext cx="2439190" cy="2439192"/>
              <a:chOff x="5007734" y="902247"/>
              <a:chExt cx="2543685" cy="2543686"/>
            </a:xfrm>
          </p:grpSpPr>
          <p:sp>
            <p:nvSpPr>
              <p:cNvPr id="8" name="椭圆 7"/>
              <p:cNvSpPr/>
              <p:nvPr/>
            </p:nvSpPr>
            <p:spPr>
              <a:xfrm>
                <a:off x="5007734" y="902247"/>
                <a:ext cx="2543685" cy="2543686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rgbClr val="E8E8E8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outerShdw blurRad="139700" dist="38100" dir="5400000" algn="t" rotWithShape="0">
                  <a:prstClr val="black">
                    <a:alpha val="1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椭圆 8"/>
              <p:cNvSpPr/>
              <p:nvPr/>
            </p:nvSpPr>
            <p:spPr>
              <a:xfrm rot="10800000">
                <a:off x="5160137" y="1054647"/>
                <a:ext cx="2213120" cy="2213120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rgbClr val="E8E8E8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innerShdw blurRad="88900">
                  <a:prstClr val="black">
                    <a:alpha val="16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椭圆 9"/>
              <p:cNvSpPr/>
              <p:nvPr/>
            </p:nvSpPr>
            <p:spPr>
              <a:xfrm rot="10800000">
                <a:off x="5253394" y="1176935"/>
                <a:ext cx="2052364" cy="2052365"/>
              </a:xfrm>
              <a:prstGeom prst="ellipse">
                <a:avLst/>
              </a:prstGeom>
              <a:blipFill dpi="0" rotWithShape="0">
                <a:blip r:embed="rId1" cstate="print"/>
                <a:srcRect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4" name="矩形 13"/>
          <p:cNvSpPr/>
          <p:nvPr/>
        </p:nvSpPr>
        <p:spPr>
          <a:xfrm>
            <a:off x="0" y="5223311"/>
            <a:ext cx="12192000" cy="1634689"/>
          </a:xfrm>
          <a:prstGeom prst="rect">
            <a:avLst/>
          </a:prstGeom>
          <a:solidFill>
            <a:srgbClr val="A31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0" y="5053673"/>
            <a:ext cx="12192000" cy="77108"/>
          </a:xfrm>
          <a:prstGeom prst="rect">
            <a:avLst/>
          </a:prstGeom>
          <a:solidFill>
            <a:srgbClr val="A31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615440" y="3063875"/>
            <a:ext cx="927671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rgbClr val="A31E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全球航空事故</a:t>
            </a:r>
            <a:endParaRPr lang="zh-CN" altLang="en-US" sz="5400" b="1" dirty="0">
              <a:solidFill>
                <a:srgbClr val="A31E2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5400" b="1" dirty="0">
                <a:solidFill>
                  <a:srgbClr val="A31E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数据可视化与智能分析平台</a:t>
            </a:r>
            <a:endParaRPr lang="zh-CN" altLang="en-US" sz="5400" b="1" dirty="0">
              <a:solidFill>
                <a:srgbClr val="A31E2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5400" b="1" dirty="0">
              <a:solidFill>
                <a:srgbClr val="A31E2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4837064" y="408451"/>
            <a:ext cx="2490717" cy="249071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0" name="Picture 49" descr="131-华东师范大学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407" y="440795"/>
            <a:ext cx="2426030" cy="24260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086860" y="5480685"/>
            <a:ext cx="40182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数据科学与工程学院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23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刘子阳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ctr">
              <a:buFont typeface="Arial" panose="020B0604020202020204" pitchFamily="34" charset="0"/>
              <a:buNone/>
            </a:pP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  <p:bldP spid="15" grpId="0" bldLvl="0" animBg="1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>
            <p:custDataLst>
              <p:tags r:id="rId1"/>
            </p:custDataLst>
          </p:nvPr>
        </p:nvCxnSpPr>
        <p:spPr>
          <a:xfrm>
            <a:off x="4277437" y="1619962"/>
            <a:ext cx="7914563" cy="0"/>
          </a:xfrm>
          <a:prstGeom prst="line">
            <a:avLst/>
          </a:prstGeom>
          <a:ln w="508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>
            <p:custDataLst>
              <p:tags r:id="rId2"/>
            </p:custDataLst>
          </p:nvPr>
        </p:nvGrpSpPr>
        <p:grpSpPr>
          <a:xfrm>
            <a:off x="5389226" y="1257300"/>
            <a:ext cx="976380" cy="767990"/>
            <a:chOff x="5389226" y="1257300"/>
            <a:chExt cx="976380" cy="767990"/>
          </a:xfrm>
        </p:grpSpPr>
        <p:sp>
          <p:nvSpPr>
            <p:cNvPr id="11" name="矩形 10"/>
            <p:cNvSpPr/>
            <p:nvPr>
              <p:custDataLst>
                <p:tags r:id="rId3"/>
              </p:custDataLst>
            </p:nvPr>
          </p:nvSpPr>
          <p:spPr>
            <a:xfrm>
              <a:off x="5493421" y="1257300"/>
              <a:ext cx="767990" cy="767990"/>
            </a:xfrm>
            <a:prstGeom prst="rect">
              <a:avLst/>
            </a:prstGeom>
            <a:solidFill>
              <a:srgbClr val="A31E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>
              <p:custDataLst>
                <p:tags r:id="rId4"/>
              </p:custDataLst>
            </p:nvPr>
          </p:nvSpPr>
          <p:spPr>
            <a:xfrm>
              <a:off x="5389226" y="1351966"/>
              <a:ext cx="976380" cy="6548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>
            <p:custDataLst>
              <p:tags r:id="rId5"/>
            </p:custDataLst>
          </p:nvPr>
        </p:nvGrpSpPr>
        <p:grpSpPr>
          <a:xfrm>
            <a:off x="8887981" y="1238885"/>
            <a:ext cx="976380" cy="767990"/>
            <a:chOff x="7767862" y="1257300"/>
            <a:chExt cx="976380" cy="767990"/>
          </a:xfrm>
        </p:grpSpPr>
        <p:sp>
          <p:nvSpPr>
            <p:cNvPr id="12" name="矩形 11"/>
            <p:cNvSpPr/>
            <p:nvPr>
              <p:custDataLst>
                <p:tags r:id="rId6"/>
              </p:custDataLst>
            </p:nvPr>
          </p:nvSpPr>
          <p:spPr>
            <a:xfrm>
              <a:off x="7850724" y="1257300"/>
              <a:ext cx="767990" cy="767990"/>
            </a:xfrm>
            <a:prstGeom prst="rect">
              <a:avLst/>
            </a:prstGeom>
            <a:solidFill>
              <a:srgbClr val="A31E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/>
            <p:cNvSpPr txBox="1"/>
            <p:nvPr>
              <p:custDataLst>
                <p:tags r:id="rId7"/>
              </p:custDataLst>
            </p:nvPr>
          </p:nvSpPr>
          <p:spPr>
            <a:xfrm>
              <a:off x="7767862" y="1351966"/>
              <a:ext cx="976380" cy="6548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3" name="文本框 22"/>
          <p:cNvSpPr txBox="1"/>
          <p:nvPr>
            <p:custDataLst>
              <p:tags r:id="rId8"/>
            </p:custDataLst>
          </p:nvPr>
        </p:nvSpPr>
        <p:spPr>
          <a:xfrm>
            <a:off x="5138230" y="2264657"/>
            <a:ext cx="1604010" cy="52070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8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</a:t>
            </a:r>
            <a:r>
              <a:rPr lang="zh-CN" altLang="en-US" sz="28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介绍</a:t>
            </a:r>
            <a:endParaRPr lang="zh-CN" altLang="en-US" sz="2800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9"/>
            </p:custDataLst>
          </p:nvPr>
        </p:nvSpPr>
        <p:spPr>
          <a:xfrm>
            <a:off x="8677050" y="2264657"/>
            <a:ext cx="1604010" cy="52070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>
                <a:solidFill>
                  <a:srgbClr val="7F7F7F"/>
                </a:solidFill>
              </a:rPr>
              <a:t>数据</a:t>
            </a:r>
            <a:r>
              <a:rPr lang="zh-CN" altLang="en-US" sz="2800" dirty="0">
                <a:solidFill>
                  <a:srgbClr val="7F7F7F"/>
                </a:solidFill>
              </a:rPr>
              <a:t>来源</a:t>
            </a:r>
            <a:endParaRPr lang="zh-CN" altLang="en-US" sz="2800" dirty="0">
              <a:solidFill>
                <a:srgbClr val="7F7F7F"/>
              </a:solidFill>
            </a:endParaRPr>
          </a:p>
        </p:txBody>
      </p:sp>
      <p:cxnSp>
        <p:nvCxnSpPr>
          <p:cNvPr id="30" name="直接连接符 29"/>
          <p:cNvCxnSpPr/>
          <p:nvPr>
            <p:custDataLst>
              <p:tags r:id="rId10"/>
            </p:custDataLst>
          </p:nvPr>
        </p:nvCxnSpPr>
        <p:spPr>
          <a:xfrm>
            <a:off x="1738117" y="4610812"/>
            <a:ext cx="8245521" cy="0"/>
          </a:xfrm>
          <a:prstGeom prst="line">
            <a:avLst/>
          </a:prstGeom>
          <a:ln w="508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>
            <p:custDataLst>
              <p:tags r:id="rId11"/>
            </p:custDataLst>
          </p:nvPr>
        </p:nvGrpSpPr>
        <p:grpSpPr>
          <a:xfrm>
            <a:off x="3040671" y="4253045"/>
            <a:ext cx="976380" cy="767990"/>
            <a:chOff x="2811806" y="4248150"/>
            <a:chExt cx="976380" cy="767990"/>
          </a:xfrm>
        </p:grpSpPr>
        <p:sp>
          <p:nvSpPr>
            <p:cNvPr id="31" name="矩形 30"/>
            <p:cNvSpPr/>
            <p:nvPr>
              <p:custDataLst>
                <p:tags r:id="rId12"/>
              </p:custDataLst>
            </p:nvPr>
          </p:nvSpPr>
          <p:spPr>
            <a:xfrm>
              <a:off x="2916001" y="4248150"/>
              <a:ext cx="767990" cy="767990"/>
            </a:xfrm>
            <a:prstGeom prst="rect">
              <a:avLst/>
            </a:prstGeom>
            <a:solidFill>
              <a:srgbClr val="A31E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>
              <p:custDataLst>
                <p:tags r:id="rId13"/>
              </p:custDataLst>
            </p:nvPr>
          </p:nvSpPr>
          <p:spPr>
            <a:xfrm>
              <a:off x="2811806" y="4342816"/>
              <a:ext cx="976380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" name="组合 13"/>
          <p:cNvGrpSpPr/>
          <p:nvPr>
            <p:custDataLst>
              <p:tags r:id="rId14"/>
            </p:custDataLst>
          </p:nvPr>
        </p:nvGrpSpPr>
        <p:grpSpPr>
          <a:xfrm>
            <a:off x="5372971" y="4248150"/>
            <a:ext cx="976380" cy="767990"/>
            <a:chOff x="5190442" y="4248150"/>
            <a:chExt cx="976380" cy="767990"/>
          </a:xfrm>
        </p:grpSpPr>
        <p:sp>
          <p:nvSpPr>
            <p:cNvPr id="32" name="矩形 31"/>
            <p:cNvSpPr/>
            <p:nvPr>
              <p:custDataLst>
                <p:tags r:id="rId15"/>
              </p:custDataLst>
            </p:nvPr>
          </p:nvSpPr>
          <p:spPr>
            <a:xfrm>
              <a:off x="5273304" y="4248150"/>
              <a:ext cx="767990" cy="767990"/>
            </a:xfrm>
            <a:prstGeom prst="rect">
              <a:avLst/>
            </a:prstGeom>
            <a:solidFill>
              <a:srgbClr val="A31E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/>
            <p:cNvSpPr txBox="1"/>
            <p:nvPr>
              <p:custDataLst>
                <p:tags r:id="rId16"/>
              </p:custDataLst>
            </p:nvPr>
          </p:nvSpPr>
          <p:spPr>
            <a:xfrm>
              <a:off x="5190442" y="4342816"/>
              <a:ext cx="976380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矩形 4"/>
          <p:cNvSpPr/>
          <p:nvPr/>
        </p:nvSpPr>
        <p:spPr>
          <a:xfrm rot="5400000">
            <a:off x="-2611658" y="2611657"/>
            <a:ext cx="6858001" cy="1634689"/>
          </a:xfrm>
          <a:prstGeom prst="rect">
            <a:avLst/>
          </a:prstGeom>
          <a:solidFill>
            <a:srgbClr val="A31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 rot="5400000">
            <a:off x="-1663229" y="3390448"/>
            <a:ext cx="6858001" cy="77108"/>
          </a:xfrm>
          <a:prstGeom prst="rect">
            <a:avLst/>
          </a:prstGeom>
          <a:solidFill>
            <a:srgbClr val="A31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>
            <p:custDataLst>
              <p:tags r:id="rId17"/>
            </p:custDataLst>
          </p:nvPr>
        </p:nvSpPr>
        <p:spPr>
          <a:xfrm>
            <a:off x="2193877" y="5236537"/>
            <a:ext cx="2670810" cy="52070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zh-CN" altLang="en-US" dirty="0">
                <a:solidFill>
                  <a:srgbClr val="7F7F7F"/>
                </a:solidFill>
              </a:rPr>
              <a:t>项目架构拓扑图</a:t>
            </a:r>
            <a:endParaRPr lang="zh-CN" altLang="en-US" dirty="0">
              <a:solidFill>
                <a:srgbClr val="7F7F7F"/>
              </a:solidFill>
            </a:endParaRPr>
          </a:p>
        </p:txBody>
      </p:sp>
      <p:sp>
        <p:nvSpPr>
          <p:cNvPr id="45" name="文本框 44"/>
          <p:cNvSpPr txBox="1"/>
          <p:nvPr>
            <p:custDataLst>
              <p:tags r:id="rId18"/>
            </p:custDataLst>
          </p:nvPr>
        </p:nvSpPr>
        <p:spPr>
          <a:xfrm>
            <a:off x="4864889" y="5236537"/>
            <a:ext cx="2315210" cy="52070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zh-CN" altLang="en-US" dirty="0">
                <a:solidFill>
                  <a:srgbClr val="7F7F7F"/>
                </a:solidFill>
              </a:rPr>
              <a:t>系统模块架构</a:t>
            </a:r>
            <a:endParaRPr lang="zh-CN" altLang="en-US" dirty="0">
              <a:solidFill>
                <a:srgbClr val="7F7F7F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27377" y="247904"/>
            <a:ext cx="1015663" cy="175892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" name="组合 14"/>
          <p:cNvGrpSpPr/>
          <p:nvPr>
            <p:custDataLst>
              <p:tags r:id="rId19"/>
            </p:custDataLst>
          </p:nvPr>
        </p:nvGrpSpPr>
        <p:grpSpPr>
          <a:xfrm>
            <a:off x="7601077" y="4248150"/>
            <a:ext cx="976380" cy="767990"/>
            <a:chOff x="7601077" y="4248150"/>
            <a:chExt cx="976380" cy="767990"/>
          </a:xfrm>
        </p:grpSpPr>
        <p:sp>
          <p:nvSpPr>
            <p:cNvPr id="16" name="矩形 15"/>
            <p:cNvSpPr/>
            <p:nvPr>
              <p:custDataLst>
                <p:tags r:id="rId20"/>
              </p:custDataLst>
            </p:nvPr>
          </p:nvSpPr>
          <p:spPr>
            <a:xfrm>
              <a:off x="7705272" y="4248150"/>
              <a:ext cx="767990" cy="767990"/>
            </a:xfrm>
            <a:prstGeom prst="rect">
              <a:avLst/>
            </a:prstGeom>
            <a:solidFill>
              <a:srgbClr val="A31E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>
              <p:custDataLst>
                <p:tags r:id="rId21"/>
              </p:custDataLst>
            </p:nvPr>
          </p:nvSpPr>
          <p:spPr>
            <a:xfrm>
              <a:off x="7601077" y="4342816"/>
              <a:ext cx="976380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1" name="文本框 20"/>
          <p:cNvSpPr txBox="1"/>
          <p:nvPr>
            <p:custDataLst>
              <p:tags r:id="rId22"/>
            </p:custDataLst>
          </p:nvPr>
        </p:nvSpPr>
        <p:spPr>
          <a:xfrm>
            <a:off x="7284041" y="5236537"/>
            <a:ext cx="1604010" cy="520700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rgbClr val="7F7F7F"/>
                </a:solidFill>
              </a:rPr>
              <a:t>项目</a:t>
            </a:r>
            <a:r>
              <a:rPr lang="zh-CN" altLang="en-US" dirty="0">
                <a:solidFill>
                  <a:srgbClr val="7F7F7F"/>
                </a:solidFill>
              </a:rPr>
              <a:t>演示</a:t>
            </a:r>
            <a:endParaRPr lang="zh-CN" altLang="en-US" dirty="0">
              <a:solidFill>
                <a:srgbClr val="7F7F7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25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1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25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25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0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500"/>
                            </p:stCondLst>
                            <p:childTnLst>
                              <p:par>
                                <p:cTn id="52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000"/>
                            </p:stCondLst>
                            <p:childTnLst>
                              <p:par>
                                <p:cTn id="5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25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2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500"/>
                            </p:stCondLst>
                            <p:childTnLst>
                              <p:par>
                                <p:cTn id="64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0"/>
                            </p:stCondLst>
                            <p:childTnLst>
                              <p:par>
                                <p:cTn id="7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25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4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500"/>
                            </p:stCondLst>
                            <p:childTnLst>
                              <p:par>
                                <p:cTn id="76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6000"/>
                            </p:stCondLst>
                            <p:childTnLst>
                              <p:par>
                                <p:cTn id="8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5" grpId="0"/>
      <p:bldP spid="5" grpId="0" animBg="1"/>
      <p:bldP spid="6" grpId="0" animBg="1"/>
      <p:bldP spid="43" grpId="0"/>
      <p:bldP spid="45" grpId="0"/>
      <p:bldP spid="7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2857500" y="2686050"/>
            <a:ext cx="9334500" cy="1295400"/>
          </a:xfrm>
          <a:prstGeom prst="rect">
            <a:avLst/>
          </a:prstGeom>
          <a:solidFill>
            <a:srgbClr val="A31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2857500" y="4133850"/>
            <a:ext cx="8210550" cy="95250"/>
          </a:xfrm>
          <a:prstGeom prst="rect">
            <a:avLst/>
          </a:prstGeom>
          <a:solidFill>
            <a:srgbClr val="A31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</p:grpSpPr>
        <p:sp>
          <p:nvSpPr>
            <p:cNvPr id="10" name="矩形 9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solidFill>
              <a:srgbClr val="A31E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407285" y="2903577"/>
              <a:ext cx="97638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2950335" y="2903577"/>
            <a:ext cx="2620010" cy="82867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/>
            <a:r>
              <a:rPr lang="zh-CN" altLang="en-US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背景介绍</a:t>
            </a:r>
            <a:endParaRPr lang="zh-CN" altLang="en-US" sz="4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2" grpId="0" bldLvl="0" animBg="1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045210" y="1024255"/>
            <a:ext cx="8987155" cy="5137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ts val="2600"/>
              </a:lnSpc>
            </a:pPr>
            <a:r>
              <a:rPr kumimoji="1" lang="zh-CN" altLang="en-US" sz="4000" dirty="0">
                <a:solidFill>
                  <a:srgbClr val="A51E36"/>
                </a:solidFill>
                <a:latin typeface="兰亭黑-简 中黑" charset="-122"/>
                <a:ea typeface="兰亭黑-简 中黑" charset="-122"/>
                <a:cs typeface="Gotham Bold" charset="0"/>
              </a:rPr>
              <a:t>项目背景</a:t>
            </a:r>
            <a:endParaRPr kumimoji="1" lang="zh-CN" altLang="en-US" sz="4000" dirty="0">
              <a:solidFill>
                <a:srgbClr val="A51E36"/>
              </a:solidFill>
              <a:latin typeface="兰亭黑-简 中黑" charset="-122"/>
              <a:ea typeface="兰亭黑-简 中黑" charset="-122"/>
              <a:cs typeface="Gotham Bold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45210" y="1791970"/>
            <a:ext cx="9109710" cy="42068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just" fontAlgn="auto">
              <a:lnSpc>
                <a:spcPct val="100000"/>
              </a:lnSpc>
            </a:pPr>
            <a:r>
              <a:rPr lang="zh-CN" altLang="en-US" sz="2400" dirty="0">
                <a:solidFill>
                  <a:srgbClr val="6C6E70"/>
                </a:solidFill>
                <a:latin typeface="兰亭黑-简 纤黑" charset="-122"/>
                <a:ea typeface="兰亭黑-简 纤黑" charset="-122"/>
              </a:rPr>
              <a:t>近年来，全球航空事故频频登上网站热搜，公众愈发对航空安全关注度日益增加。但是大众对于航空事故的获取往往只能通过零星的新闻报导，缺乏获取完整信息的途径，这助长了部分群众对于航空安全恐慌的心态。现有的网站专业性较强，</a:t>
            </a:r>
            <a:r>
              <a:rPr lang="zh-CN" altLang="en-US" sz="2400" dirty="0">
                <a:solidFill>
                  <a:srgbClr val="6C6E70"/>
                </a:solidFill>
                <a:ea typeface="兰亭黑-简 纤黑" charset="-122"/>
              </a:rPr>
              <a:t>大多数都是枯燥的表格或者长篇文字，普通大众很难有全局的了解。</a:t>
            </a:r>
            <a:endParaRPr lang="zh-CN" altLang="en-US" sz="2400" dirty="0">
              <a:solidFill>
                <a:srgbClr val="6C6E70"/>
              </a:solidFill>
              <a:ea typeface="兰亭黑-简 纤黑" charset="-122"/>
            </a:endParaRPr>
          </a:p>
          <a:p>
            <a:pPr indent="0" algn="just" fontAlgn="auto">
              <a:lnSpc>
                <a:spcPct val="100000"/>
              </a:lnSpc>
            </a:pPr>
            <a:endParaRPr lang="en-US" altLang="zh-CN" sz="2400" dirty="0">
              <a:solidFill>
                <a:srgbClr val="6C6E70"/>
              </a:solidFill>
              <a:ea typeface="兰亭黑-简 纤黑" charset="-122"/>
            </a:endParaRPr>
          </a:p>
          <a:p>
            <a:pPr indent="0" algn="just" fontAlgn="auto">
              <a:lnSpc>
                <a:spcPct val="100000"/>
              </a:lnSpc>
            </a:pPr>
            <a:r>
              <a:rPr lang="zh-CN" altLang="en-US" sz="2400" dirty="0">
                <a:solidFill>
                  <a:srgbClr val="6C6E70"/>
                </a:solidFill>
                <a:ea typeface="兰亭黑-简 纤黑" charset="-122"/>
              </a:rPr>
              <a:t>本项目旨在通过在地图上描绘事故航线，以及汇总数据，绘制多维度的图表，使得这些复杂的数据变得直观、易懂，使得普通大众也能通过平台直观了解航空安全的现状和趋势，更加理性客观地看待航空事故。</a:t>
            </a:r>
            <a:endParaRPr lang="zh-CN" altLang="en-US" sz="2400" dirty="0">
              <a:solidFill>
                <a:srgbClr val="6C6E70"/>
              </a:solidFill>
              <a:ea typeface="兰亭黑-简 纤黑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8370" y="76200"/>
            <a:ext cx="1651635" cy="5334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7955" y="0"/>
            <a:ext cx="614045" cy="6096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7175" y="0"/>
            <a:ext cx="6597650" cy="68586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2857500" y="2686050"/>
            <a:ext cx="9334500" cy="1295400"/>
          </a:xfrm>
          <a:prstGeom prst="rect">
            <a:avLst/>
          </a:prstGeom>
          <a:solidFill>
            <a:srgbClr val="A31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2857500" y="4133850"/>
            <a:ext cx="8210550" cy="95250"/>
          </a:xfrm>
          <a:prstGeom prst="rect">
            <a:avLst/>
          </a:prstGeom>
          <a:solidFill>
            <a:srgbClr val="A31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</p:grpSpPr>
        <p:sp>
          <p:nvSpPr>
            <p:cNvPr id="10" name="矩形 9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solidFill>
              <a:srgbClr val="A31E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407285" y="2903577"/>
              <a:ext cx="976380" cy="11068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2950335" y="2903577"/>
            <a:ext cx="2620010" cy="82867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/>
            <a:r>
              <a:rPr lang="zh-CN" altLang="en-US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来源</a:t>
            </a:r>
            <a:endParaRPr lang="zh-CN" altLang="en-US" sz="4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2" grpId="0" bldLvl="0" animBg="1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045210" y="1024255"/>
            <a:ext cx="8987155" cy="5137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ts val="2600"/>
              </a:lnSpc>
            </a:pPr>
            <a:r>
              <a:rPr kumimoji="1" lang="zh-CN" altLang="en-US" sz="4000" dirty="0">
                <a:solidFill>
                  <a:srgbClr val="A51E36"/>
                </a:solidFill>
                <a:latin typeface="兰亭黑-简 中黑" charset="-122"/>
                <a:ea typeface="兰亭黑-简 中黑" charset="-122"/>
                <a:cs typeface="Gotham Bold" charset="0"/>
              </a:rPr>
              <a:t>数据</a:t>
            </a:r>
            <a:r>
              <a:rPr kumimoji="1" lang="zh-CN" altLang="en-US" sz="4000" dirty="0">
                <a:solidFill>
                  <a:srgbClr val="A51E36"/>
                </a:solidFill>
                <a:latin typeface="兰亭黑-简 中黑" charset="-122"/>
                <a:ea typeface="兰亭黑-简 中黑" charset="-122"/>
                <a:cs typeface="Gotham Bold" charset="0"/>
              </a:rPr>
              <a:t>来源</a:t>
            </a:r>
            <a:endParaRPr kumimoji="1" lang="zh-CN" altLang="en-US" sz="4000" dirty="0">
              <a:solidFill>
                <a:srgbClr val="A51E36"/>
              </a:solidFill>
              <a:latin typeface="兰亭黑-简 中黑" charset="-122"/>
              <a:ea typeface="兰亭黑-简 中黑" charset="-122"/>
              <a:cs typeface="Gotham Bold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45210" y="1791970"/>
            <a:ext cx="9109710" cy="42068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6C6E70"/>
                </a:solidFill>
                <a:ea typeface="兰亭黑-简 纤黑" charset="-122"/>
                <a:sym typeface="+mn-ea"/>
              </a:rPr>
              <a:t>本项目事故数据来自于 </a:t>
            </a:r>
            <a:r>
              <a:rPr lang="en-US" altLang="zh-CN" sz="2400" dirty="0">
                <a:solidFill>
                  <a:srgbClr val="6C6E70"/>
                </a:solidFill>
                <a:ea typeface="兰亭黑-简 纤黑" charset="-122"/>
                <a:sym typeface="+mn-ea"/>
              </a:rPr>
              <a:t>Aviation Safety Network, </a:t>
            </a:r>
            <a:r>
              <a:rPr lang="zh-CN" altLang="en-US" sz="2400" dirty="0">
                <a:solidFill>
                  <a:srgbClr val="6C6E70"/>
                </a:solidFill>
                <a:ea typeface="兰亭黑-简 纤黑" charset="-122"/>
                <a:sym typeface="+mn-ea"/>
              </a:rPr>
              <a:t>一个由非盈利机构 </a:t>
            </a:r>
            <a:r>
              <a:rPr lang="en-US" altLang="zh-CN" sz="2400" dirty="0">
                <a:solidFill>
                  <a:srgbClr val="6C6E70"/>
                </a:solidFill>
                <a:ea typeface="兰亭黑-简 纤黑" charset="-122"/>
                <a:sym typeface="+mn-ea"/>
              </a:rPr>
              <a:t>Flight Safety Foundation</a:t>
            </a:r>
            <a:r>
              <a:rPr lang="zh-CN" altLang="en-US" sz="2400" dirty="0">
                <a:solidFill>
                  <a:srgbClr val="6C6E70"/>
                </a:solidFill>
                <a:ea typeface="兰亭黑-简 纤黑" charset="-122"/>
                <a:sym typeface="+mn-ea"/>
              </a:rPr>
              <a:t>（飞行安全基金会）维护全球性航空安全数据库，搜集全球航空事故的详细信息，涵盖客机、军用运输机及公务机事故记录。</a:t>
            </a:r>
            <a:endParaRPr lang="en-US" altLang="zh-CN" sz="2400" dirty="0">
              <a:solidFill>
                <a:srgbClr val="6C6E70"/>
              </a:solidFill>
              <a:ea typeface="兰亭黑-简 纤黑" charset="-122"/>
            </a:endParaRPr>
          </a:p>
          <a:p>
            <a:pPr algn="just"/>
            <a:endParaRPr lang="en-US" altLang="zh-CN" sz="2400" dirty="0">
              <a:solidFill>
                <a:srgbClr val="6C6E70"/>
              </a:solidFill>
              <a:ea typeface="兰亭黑-简 纤黑" charset="-122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6C6E70"/>
                </a:solidFill>
                <a:ea typeface="兰亭黑-简 纤黑" charset="-122"/>
                <a:sym typeface="+mn-ea"/>
              </a:rPr>
              <a:t>机场信息来自 </a:t>
            </a:r>
            <a:r>
              <a:rPr lang="en-US" altLang="zh-CN" sz="2400" dirty="0" err="1">
                <a:solidFill>
                  <a:srgbClr val="6C6E70"/>
                </a:solidFill>
                <a:ea typeface="兰亭黑-简 纤黑" charset="-122"/>
                <a:sym typeface="+mn-ea"/>
              </a:rPr>
              <a:t>OurAirports</a:t>
            </a:r>
            <a:r>
              <a:rPr lang="en-US" altLang="zh-CN" sz="2400" dirty="0">
                <a:solidFill>
                  <a:srgbClr val="6C6E70"/>
                </a:solidFill>
                <a:ea typeface="兰亭黑-简 纤黑" charset="-122"/>
                <a:sym typeface="+mn-ea"/>
              </a:rPr>
              <a:t>, </a:t>
            </a:r>
            <a:r>
              <a:rPr lang="zh-CN" altLang="en-US" sz="2400" dirty="0">
                <a:solidFill>
                  <a:srgbClr val="6C6E70"/>
                </a:solidFill>
                <a:ea typeface="兰亭黑-简 纤黑" charset="-122"/>
                <a:sym typeface="+mn-ea"/>
              </a:rPr>
              <a:t>一个提供全球机场信息的开放数据库，融合官方机构数据与用户协作维护</a:t>
            </a:r>
            <a:endParaRPr lang="zh-CN" altLang="en-US" sz="2400" dirty="0">
              <a:solidFill>
                <a:srgbClr val="6C6E70"/>
              </a:solidFill>
              <a:ea typeface="兰亭黑-简 纤黑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8370" y="76200"/>
            <a:ext cx="1651635" cy="5334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7955" y="0"/>
            <a:ext cx="614045" cy="6096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65" y="5919470"/>
            <a:ext cx="6441440" cy="8502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2857500" y="4133850"/>
            <a:ext cx="8210550" cy="95250"/>
          </a:xfrm>
          <a:prstGeom prst="rect">
            <a:avLst/>
          </a:prstGeom>
          <a:solidFill>
            <a:srgbClr val="A31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</p:grpSpPr>
        <p:sp>
          <p:nvSpPr>
            <p:cNvPr id="7" name="矩形 6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solidFill>
              <a:srgbClr val="A31E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407285" y="2903577"/>
              <a:ext cx="976380" cy="11068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en-US" altLang="zh-CN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2857500" y="2686050"/>
            <a:ext cx="9334500" cy="1295400"/>
          </a:xfrm>
          <a:prstGeom prst="rect">
            <a:avLst/>
          </a:prstGeom>
          <a:solidFill>
            <a:srgbClr val="A31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950335" y="2918253"/>
            <a:ext cx="4448810" cy="82867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zh-CN" altLang="en-US" dirty="0">
                <a:solidFill>
                  <a:srgbClr val="FFFFFF"/>
                </a:solidFill>
              </a:rPr>
              <a:t>项目架构</a:t>
            </a:r>
            <a:r>
              <a:rPr lang="zh-CN" altLang="en-US" dirty="0">
                <a:solidFill>
                  <a:srgbClr val="FFFFFF"/>
                </a:solidFill>
              </a:rPr>
              <a:t>拓扑图</a:t>
            </a:r>
            <a:endParaRPr lang="zh-CN" alt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0">
        <p15:prstTrans prst="drap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" grpId="0" animBg="1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-277611" y="201683"/>
            <a:ext cx="898070" cy="521970"/>
            <a:chOff x="-277611" y="201683"/>
            <a:chExt cx="898070" cy="521970"/>
          </a:xfrm>
        </p:grpSpPr>
        <p:sp>
          <p:nvSpPr>
            <p:cNvPr id="5" name="圆角矩形 4"/>
            <p:cNvSpPr/>
            <p:nvPr/>
          </p:nvSpPr>
          <p:spPr>
            <a:xfrm>
              <a:off x="-277611" y="221399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A31E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07517" y="201804"/>
            <a:ext cx="3026410" cy="58229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/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项目架构拓扑</a:t>
            </a:r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1" name="Picture 30" descr="131-华东师范大学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15607" y="6141125"/>
            <a:ext cx="499384" cy="499383"/>
          </a:xfrm>
          <a:prstGeom prst="rect">
            <a:avLst/>
          </a:prstGeom>
        </p:spPr>
      </p:pic>
      <p:pic>
        <p:nvPicPr>
          <p:cNvPr id="2" name="图片 1" descr="1.架构图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705" y="0"/>
            <a:ext cx="9323705" cy="68408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entr" presetSubtype="0" ac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49875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1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470026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857500" y="2686050"/>
            <a:ext cx="9334500" cy="1295400"/>
          </a:xfrm>
          <a:prstGeom prst="rect">
            <a:avLst/>
          </a:prstGeom>
          <a:solidFill>
            <a:srgbClr val="A31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857500" y="4133850"/>
            <a:ext cx="8210550" cy="95250"/>
          </a:xfrm>
          <a:prstGeom prst="rect">
            <a:avLst/>
          </a:prstGeom>
          <a:solidFill>
            <a:srgbClr val="A31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</p:grpSpPr>
        <p:sp>
          <p:nvSpPr>
            <p:cNvPr id="7" name="矩形 6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solidFill>
              <a:srgbClr val="A31E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407285" y="2903577"/>
              <a:ext cx="976380" cy="11068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en-US" altLang="zh-CN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2950335" y="2918253"/>
            <a:ext cx="3839210" cy="82867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zh-CN" altLang="en-US" dirty="0">
                <a:solidFill>
                  <a:srgbClr val="FFFFFF"/>
                </a:solidFill>
              </a:rPr>
              <a:t>系统模块架构</a:t>
            </a:r>
            <a:endParaRPr lang="en-US" altLang="zh-CN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0">
        <p15:prstTrans prst="drap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-277611" y="201683"/>
            <a:ext cx="898070" cy="523220"/>
            <a:chOff x="-277611" y="201683"/>
            <a:chExt cx="898070" cy="523220"/>
          </a:xfrm>
        </p:grpSpPr>
        <p:sp>
          <p:nvSpPr>
            <p:cNvPr id="5" name="圆角矩形 4"/>
            <p:cNvSpPr/>
            <p:nvPr/>
          </p:nvSpPr>
          <p:spPr>
            <a:xfrm>
              <a:off x="-277611" y="221399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A31E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07517" y="201804"/>
            <a:ext cx="6367780" cy="58229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/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数据工程模块</a:t>
            </a:r>
            <a:r>
              <a:rPr lang="en-US" altLang="zh-CN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(Data Engineering)</a:t>
            </a:r>
            <a:endParaRPr lang="en-US" altLang="zh-CN" sz="3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1" name="Picture 30" descr="131-华东师范大学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15607" y="6141125"/>
            <a:ext cx="499384" cy="499383"/>
          </a:xfrm>
          <a:prstGeom prst="rect">
            <a:avLst/>
          </a:prstGeom>
        </p:spPr>
      </p:pic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8449310" y="201930"/>
            <a:ext cx="2865120" cy="652272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58190" y="1380490"/>
            <a:ext cx="5059045" cy="3835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600"/>
              <a:t>核心</a:t>
            </a:r>
            <a:r>
              <a:rPr lang="zh-CN" altLang="en-US" sz="3600"/>
              <a:t>技术点：</a:t>
            </a:r>
            <a:endParaRPr lang="zh-CN" altLang="en-US" sz="3600"/>
          </a:p>
          <a:p>
            <a:endParaRPr lang="zh-CN" altLang="en-US" sz="3600"/>
          </a:p>
          <a:p>
            <a:r>
              <a:rPr lang="en-US" altLang="zh-CN" sz="3600"/>
              <a:t>1.</a:t>
            </a:r>
            <a:r>
              <a:rPr lang="zh-CN" altLang="en-US" sz="3600"/>
              <a:t>多线程</a:t>
            </a:r>
            <a:r>
              <a:rPr lang="zh-CN" altLang="en-US" sz="3600"/>
              <a:t>爬取</a:t>
            </a:r>
            <a:endParaRPr lang="zh-CN" altLang="en-US" sz="3600"/>
          </a:p>
          <a:p>
            <a:r>
              <a:rPr lang="zh-CN" altLang="en-US" sz="3600"/>
              <a:t>使用线程池</a:t>
            </a:r>
            <a:r>
              <a:rPr lang="en-US" altLang="zh-CN" sz="3600"/>
              <a:t>+</a:t>
            </a:r>
            <a:r>
              <a:rPr lang="zh-CN" altLang="en-US" sz="3600"/>
              <a:t>指数退避</a:t>
            </a:r>
            <a:r>
              <a:rPr lang="zh-CN" altLang="en-US" sz="3600"/>
              <a:t>算法</a:t>
            </a:r>
            <a:endParaRPr lang="zh-CN" altLang="en-US" sz="3600"/>
          </a:p>
          <a:p>
            <a:endParaRPr lang="zh-CN" altLang="en-US" sz="3600"/>
          </a:p>
          <a:p>
            <a:r>
              <a:rPr lang="en-US" altLang="zh-CN" sz="3600"/>
              <a:t>2.</a:t>
            </a:r>
            <a:r>
              <a:rPr lang="zh-CN" altLang="en-US" sz="3600"/>
              <a:t>地理信息</a:t>
            </a:r>
            <a:r>
              <a:rPr lang="zh-CN" altLang="en-US" sz="3600"/>
              <a:t>增强</a:t>
            </a:r>
            <a:endParaRPr lang="zh-CN" altLang="en-US" sz="3600"/>
          </a:p>
          <a:p>
            <a:r>
              <a:rPr lang="zh-CN" altLang="en-US" sz="3600"/>
              <a:t>精确匹配</a:t>
            </a:r>
            <a:r>
              <a:rPr lang="en-US" altLang="zh-CN" sz="3600"/>
              <a:t>+</a:t>
            </a:r>
            <a:r>
              <a:rPr lang="zh-CN" altLang="en-US" sz="3600"/>
              <a:t>模糊</a:t>
            </a:r>
            <a:r>
              <a:rPr lang="zh-CN" altLang="en-US" sz="3600"/>
              <a:t>匹配</a:t>
            </a:r>
            <a:endParaRPr lang="zh-CN" altLang="en-US" sz="360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entr" presetSubtype="0" ac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505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1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81052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-277611" y="201683"/>
            <a:ext cx="898070" cy="521970"/>
            <a:chOff x="-277611" y="201683"/>
            <a:chExt cx="898070" cy="521970"/>
          </a:xfrm>
        </p:grpSpPr>
        <p:sp>
          <p:nvSpPr>
            <p:cNvPr id="5" name="圆角矩形 4"/>
            <p:cNvSpPr/>
            <p:nvPr/>
          </p:nvSpPr>
          <p:spPr>
            <a:xfrm>
              <a:off x="-277611" y="221399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A31E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07517" y="201804"/>
            <a:ext cx="5537835" cy="58229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/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数据存储模块</a:t>
            </a:r>
            <a:r>
              <a:rPr lang="en-US" altLang="zh-CN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(Data Storage)</a:t>
            </a:r>
            <a:endParaRPr lang="en-US" altLang="zh-CN" sz="3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1" name="Picture 30" descr="131-华东师范大学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15607" y="6141125"/>
            <a:ext cx="499384" cy="499383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05" y="2627630"/>
            <a:ext cx="6551930" cy="38830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4330" y="661035"/>
            <a:ext cx="5487670" cy="526415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08025" y="1220470"/>
            <a:ext cx="56362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结构化与非结构化的</a:t>
            </a:r>
            <a:endParaRPr lang="zh-CN" altLang="en-US" sz="3600"/>
          </a:p>
          <a:p>
            <a:r>
              <a:rPr lang="zh-CN" altLang="en-US" sz="3600"/>
              <a:t>混合存储架构</a:t>
            </a:r>
            <a:endParaRPr lang="zh-CN" altLang="en-US" sz="360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335" y="5912485"/>
            <a:ext cx="2352040" cy="8604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-277611" y="201683"/>
            <a:ext cx="898070" cy="521970"/>
            <a:chOff x="-277611" y="201683"/>
            <a:chExt cx="898070" cy="521970"/>
          </a:xfrm>
        </p:grpSpPr>
        <p:sp>
          <p:nvSpPr>
            <p:cNvPr id="5" name="圆角矩形 4"/>
            <p:cNvSpPr/>
            <p:nvPr/>
          </p:nvSpPr>
          <p:spPr>
            <a:xfrm>
              <a:off x="-277611" y="221399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A31E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07517" y="201804"/>
            <a:ext cx="6433820" cy="58229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/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业务网关模块</a:t>
            </a:r>
            <a:r>
              <a:rPr lang="en-US" altLang="zh-CN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(Backend Gateway)</a:t>
            </a:r>
            <a:endParaRPr lang="en-US" altLang="zh-CN" sz="3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1" name="Picture 30" descr="131-华东师范大学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15607" y="6141125"/>
            <a:ext cx="499384" cy="499383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106170" y="3841750"/>
            <a:ext cx="9549765" cy="3016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600"/>
              <a:t>职责分离：</a:t>
            </a:r>
            <a:endParaRPr lang="zh-CN" altLang="en-US" sz="3600"/>
          </a:p>
          <a:p>
            <a:r>
              <a:rPr lang="en-US" altLang="zh-CN" sz="3600"/>
              <a:t>Node.js </a:t>
            </a:r>
            <a:r>
              <a:rPr lang="zh-CN" altLang="en-US" sz="3600"/>
              <a:t>负责高并发</a:t>
            </a:r>
            <a:r>
              <a:rPr lang="en-US" altLang="zh-CN" sz="3600"/>
              <a:t> I/O</a:t>
            </a:r>
            <a:endParaRPr lang="en-US" altLang="zh-CN" sz="3600"/>
          </a:p>
          <a:p>
            <a:r>
              <a:rPr lang="en-US" altLang="zh-CN" sz="3600"/>
              <a:t>Python </a:t>
            </a:r>
            <a:r>
              <a:rPr lang="zh-CN" altLang="en-US" sz="3600"/>
              <a:t>负责</a:t>
            </a:r>
            <a:r>
              <a:rPr lang="en-US" altLang="zh-CN" sz="3600"/>
              <a:t> CPU/GPU </a:t>
            </a:r>
            <a:r>
              <a:rPr lang="zh-CN" altLang="en-US" sz="3600"/>
              <a:t>密集型计算（</a:t>
            </a:r>
            <a:r>
              <a:rPr lang="en-US" altLang="zh-CN" sz="3600"/>
              <a:t>AI </a:t>
            </a:r>
            <a:r>
              <a:rPr lang="zh-CN" altLang="en-US" sz="3600"/>
              <a:t>推理）</a:t>
            </a:r>
            <a:endParaRPr lang="zh-CN" altLang="en-US" sz="3600"/>
          </a:p>
          <a:p>
            <a:endParaRPr lang="en-US" altLang="zh-CN" sz="3600"/>
          </a:p>
          <a:p>
            <a:r>
              <a:rPr lang="zh-CN" altLang="en-US" sz="3600"/>
              <a:t>优势：解决跨域</a:t>
            </a:r>
            <a:r>
              <a:rPr lang="en-US" altLang="zh-CN" sz="3600"/>
              <a:t> (CORS) </a:t>
            </a:r>
            <a:r>
              <a:rPr lang="zh-CN" altLang="en-US" sz="3600"/>
              <a:t>问题，便于扩展</a:t>
            </a:r>
            <a:endParaRPr lang="zh-CN" altLang="en-US" sz="3600"/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3078480" y="794385"/>
            <a:ext cx="6035040" cy="30365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-277611" y="201683"/>
            <a:ext cx="898070" cy="521970"/>
            <a:chOff x="-277611" y="201683"/>
            <a:chExt cx="898070" cy="521970"/>
          </a:xfrm>
        </p:grpSpPr>
        <p:sp>
          <p:nvSpPr>
            <p:cNvPr id="5" name="圆角矩形 4"/>
            <p:cNvSpPr/>
            <p:nvPr/>
          </p:nvSpPr>
          <p:spPr>
            <a:xfrm>
              <a:off x="-277611" y="221399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A31E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707517" y="201804"/>
            <a:ext cx="6750050" cy="58229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/>
            <a:r>
              <a:rPr lang="en-US" altLang="zh-CN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RAG </a:t>
            </a:r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智能推理模块</a:t>
            </a:r>
            <a:r>
              <a:rPr lang="en-US" altLang="zh-CN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(AI Intelligence)</a:t>
            </a:r>
            <a:endParaRPr lang="en-US" altLang="zh-CN" sz="3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1" name="Picture 30" descr="131-华东师范大学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15607" y="6141125"/>
            <a:ext cx="499384" cy="499383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8321675" y="784225"/>
            <a:ext cx="3693160" cy="38957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/>
              <a:t>技术栈：</a:t>
            </a:r>
            <a:endParaRPr lang="zh-CN" altLang="en-US" sz="2800"/>
          </a:p>
          <a:p>
            <a:endParaRPr lang="en-US" altLang="zh-CN" sz="2800"/>
          </a:p>
          <a:p>
            <a:r>
              <a:rPr lang="en-US" altLang="zh-CN" sz="2800"/>
              <a:t>LLM: DeepSeek-R1-Distill-Qwen-7B (FP16</a:t>
            </a:r>
            <a:r>
              <a:rPr lang="zh-CN" altLang="en-US" sz="2800"/>
              <a:t>量化，本地部署</a:t>
            </a:r>
            <a:r>
              <a:rPr lang="en-US" altLang="zh-CN" sz="2800"/>
              <a:t>)</a:t>
            </a:r>
            <a:r>
              <a:rPr lang="zh-CN" altLang="en-US" sz="2800"/>
              <a:t>。</a:t>
            </a:r>
            <a:endParaRPr lang="zh-CN" altLang="en-US" sz="2800"/>
          </a:p>
          <a:p>
            <a:endParaRPr lang="en-US" altLang="zh-CN" sz="2800"/>
          </a:p>
          <a:p>
            <a:r>
              <a:rPr lang="en-US" altLang="zh-CN" sz="2800"/>
              <a:t>Embedding: BGE-M3 (</a:t>
            </a:r>
            <a:r>
              <a:rPr lang="zh-CN" altLang="en-US" sz="2800"/>
              <a:t>支持中英双语</a:t>
            </a:r>
            <a:r>
              <a:rPr lang="en-US" altLang="zh-CN" sz="2800"/>
              <a:t>)</a:t>
            </a:r>
            <a:r>
              <a:rPr lang="zh-CN" altLang="en-US" sz="2800"/>
              <a:t>。</a:t>
            </a:r>
            <a:endParaRPr lang="zh-CN" altLang="en-US" sz="2800"/>
          </a:p>
          <a:p>
            <a:endParaRPr lang="en-US" altLang="zh-CN" sz="2800"/>
          </a:p>
          <a:p>
            <a:r>
              <a:rPr lang="en-US" altLang="zh-CN" sz="2800"/>
              <a:t>Framework: FastAPI + PyTorch</a:t>
            </a:r>
            <a:r>
              <a:rPr lang="zh-CN" altLang="en-US" sz="2800"/>
              <a:t>。</a:t>
            </a:r>
            <a:endParaRPr lang="zh-CN" altLang="en-US" sz="28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685" y="725170"/>
            <a:ext cx="3855720" cy="51212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" y="725170"/>
            <a:ext cx="3903345" cy="51219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0">
        <p15:prstTrans prst="pageCurlDoubl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1970"/>
            <a:chOff x="-254000" y="201683"/>
            <a:chExt cx="898070" cy="521970"/>
          </a:xfrm>
        </p:grpSpPr>
        <p:sp>
          <p:nvSpPr>
            <p:cNvPr id="11" name="圆角矩形 10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A31E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65706" y="201683"/>
              <a:ext cx="46769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92" name="Picture 291" descr="131-华东师范大学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15607" y="6141125"/>
            <a:ext cx="499384" cy="499383"/>
          </a:xfrm>
          <a:prstGeom prst="rect">
            <a:avLst/>
          </a:prstGeom>
        </p:spPr>
      </p:pic>
      <p:sp>
        <p:nvSpPr>
          <p:cNvPr id="294" name="文本框 293"/>
          <p:cNvSpPr txBox="1"/>
          <p:nvPr/>
        </p:nvSpPr>
        <p:spPr>
          <a:xfrm>
            <a:off x="731852" y="140086"/>
            <a:ext cx="6991350" cy="58229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/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前端交互模块</a:t>
            </a:r>
            <a:r>
              <a:rPr lang="en-US" altLang="zh-CN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(Frontend Interaction)</a:t>
            </a:r>
            <a:endParaRPr lang="en-US" altLang="zh-CN" sz="3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" y="847090"/>
            <a:ext cx="10968990" cy="55245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335915" y="1049020"/>
            <a:ext cx="8218170" cy="5234940"/>
          </a:xfrm>
          <a:prstGeom prst="rect">
            <a:avLst/>
          </a:prstGeom>
          <a:solidFill>
            <a:srgbClr val="5B9BD5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593590" y="5853430"/>
            <a:ext cx="1715770" cy="518160"/>
          </a:xfrm>
          <a:prstGeom prst="rect">
            <a:avLst/>
          </a:prstGeom>
          <a:solidFill>
            <a:schemeClr val="accent2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9579610" y="1030605"/>
            <a:ext cx="1587500" cy="5234940"/>
          </a:xfrm>
          <a:prstGeom prst="rect">
            <a:avLst/>
          </a:prstGeom>
          <a:solidFill>
            <a:srgbClr val="C5E0B4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535170" y="3108325"/>
            <a:ext cx="1774190" cy="5289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8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地图主视图</a:t>
            </a:r>
            <a:endParaRPr lang="zh-CN" altLang="en-US" sz="18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998710" y="1946910"/>
            <a:ext cx="594995" cy="3161665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lstStyle/>
          <a:p>
            <a:r>
              <a:rPr lang="zh-CN" altLang="en-US" sz="18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搜索 与 筛选 面板</a:t>
            </a:r>
            <a:endParaRPr lang="zh-CN" altLang="en-US" sz="18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535170" y="5854065"/>
            <a:ext cx="1774190" cy="429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数据看板</a:t>
            </a:r>
            <a:endParaRPr lang="zh-CN" altLang="en-US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221480" y="1132205"/>
            <a:ext cx="2332990" cy="814705"/>
          </a:xfrm>
          <a:prstGeom prst="rect">
            <a:avLst/>
          </a:prstGeom>
          <a:solidFill>
            <a:srgbClr val="C5E0B4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0">
        <p15:prstTrans prst="drap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" grpId="0"/>
      <p:bldP spid="8" grpId="0" bldLvl="0" animBg="1"/>
      <p:bldP spid="9" grpId="0" bldLvl="0" animBg="1"/>
      <p:bldP spid="10" grpId="0" bldLvl="0" animBg="1"/>
      <p:bldP spid="5" grpId="0"/>
      <p:bldP spid="6" grpId="0"/>
      <p:bldP spid="13" grpId="0"/>
      <p:bldP spid="17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1970"/>
            <a:chOff x="-254000" y="201683"/>
            <a:chExt cx="898070" cy="521970"/>
          </a:xfrm>
        </p:grpSpPr>
        <p:sp>
          <p:nvSpPr>
            <p:cNvPr id="11" name="圆角矩形 10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A31E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65706" y="201683"/>
              <a:ext cx="46769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92" name="Picture 291" descr="131-华东师范大学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15607" y="6141125"/>
            <a:ext cx="499384" cy="499383"/>
          </a:xfrm>
          <a:prstGeom prst="rect">
            <a:avLst/>
          </a:prstGeom>
        </p:spPr>
      </p:pic>
      <p:sp>
        <p:nvSpPr>
          <p:cNvPr id="294" name="文本框 293"/>
          <p:cNvSpPr txBox="1"/>
          <p:nvPr/>
        </p:nvSpPr>
        <p:spPr>
          <a:xfrm>
            <a:off x="800735" y="141605"/>
            <a:ext cx="11391265" cy="58229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l"/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前端交互模块</a:t>
            </a:r>
            <a:r>
              <a:rPr lang="en-US" altLang="zh-CN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(Frontend Interaction)</a:t>
            </a:r>
            <a:endParaRPr lang="en-US" altLang="zh-CN" sz="3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801370"/>
            <a:ext cx="10958830" cy="53397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0">
        <p15:prstTrans prst="drap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1970"/>
            <a:chOff x="-254000" y="201683"/>
            <a:chExt cx="898070" cy="521970"/>
          </a:xfrm>
        </p:grpSpPr>
        <p:sp>
          <p:nvSpPr>
            <p:cNvPr id="11" name="圆角矩形 10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A31E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65706" y="201683"/>
              <a:ext cx="46769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92" name="Picture 291" descr="131-华东师范大学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15607" y="6141125"/>
            <a:ext cx="499384" cy="499383"/>
          </a:xfrm>
          <a:prstGeom prst="rect">
            <a:avLst/>
          </a:prstGeom>
        </p:spPr>
      </p:pic>
      <p:sp>
        <p:nvSpPr>
          <p:cNvPr id="294" name="文本框 293"/>
          <p:cNvSpPr txBox="1"/>
          <p:nvPr/>
        </p:nvSpPr>
        <p:spPr>
          <a:xfrm>
            <a:off x="800432" y="141356"/>
            <a:ext cx="6991350" cy="58229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/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前端交互模块</a:t>
            </a:r>
            <a:r>
              <a:rPr lang="en-US" altLang="zh-CN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(Frontend Interaction)</a:t>
            </a:r>
            <a:endParaRPr lang="en-US" altLang="zh-CN" sz="3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160" y="808990"/>
            <a:ext cx="11144250" cy="54476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0">
        <p15:prstTrans prst="drap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1970"/>
            <a:chOff x="-254000" y="201683"/>
            <a:chExt cx="898070" cy="521970"/>
          </a:xfrm>
        </p:grpSpPr>
        <p:sp>
          <p:nvSpPr>
            <p:cNvPr id="11" name="圆角矩形 10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A31E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65706" y="201683"/>
              <a:ext cx="46769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5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92" name="Picture 291" descr="131-华东师范大学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15607" y="6141125"/>
            <a:ext cx="499384" cy="499383"/>
          </a:xfrm>
          <a:prstGeom prst="rect">
            <a:avLst/>
          </a:prstGeom>
        </p:spPr>
      </p:pic>
      <p:sp>
        <p:nvSpPr>
          <p:cNvPr id="294" name="文本框 293"/>
          <p:cNvSpPr txBox="1"/>
          <p:nvPr/>
        </p:nvSpPr>
        <p:spPr>
          <a:xfrm>
            <a:off x="731852" y="201681"/>
            <a:ext cx="6991350" cy="58229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/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前端交互模块</a:t>
            </a:r>
            <a:r>
              <a:rPr lang="en-US" altLang="zh-CN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(Frontend Interaction)</a:t>
            </a:r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 descr="4.事故图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20" y="852805"/>
            <a:ext cx="11548110" cy="5219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0">
        <p15:prstTrans prst="drap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1970"/>
            <a:chOff x="-254000" y="201683"/>
            <a:chExt cx="898070" cy="521970"/>
          </a:xfrm>
        </p:grpSpPr>
        <p:sp>
          <p:nvSpPr>
            <p:cNvPr id="11" name="圆角矩形 10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A31E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65706" y="201683"/>
              <a:ext cx="46769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5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92" name="Picture 291" descr="131-华东师范大学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15607" y="6141125"/>
            <a:ext cx="499384" cy="499383"/>
          </a:xfrm>
          <a:prstGeom prst="rect">
            <a:avLst/>
          </a:prstGeom>
        </p:spPr>
      </p:pic>
      <p:sp>
        <p:nvSpPr>
          <p:cNvPr id="294" name="文本框 293"/>
          <p:cNvSpPr txBox="1"/>
          <p:nvPr/>
        </p:nvSpPr>
        <p:spPr>
          <a:xfrm>
            <a:off x="731852" y="201681"/>
            <a:ext cx="6991350" cy="58229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/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前端交互模块</a:t>
            </a:r>
            <a:r>
              <a:rPr lang="en-US" altLang="zh-CN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(Frontend Interaction)</a:t>
            </a:r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 descr="6.按国家来统计的事故总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05" y="965835"/>
            <a:ext cx="11835765" cy="51485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0">
        <p15:prstTrans prst="drap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1970"/>
            <a:chOff x="-254000" y="201683"/>
            <a:chExt cx="898070" cy="521970"/>
          </a:xfrm>
        </p:grpSpPr>
        <p:sp>
          <p:nvSpPr>
            <p:cNvPr id="11" name="圆角矩形 10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A31E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65706" y="201683"/>
              <a:ext cx="46769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5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92" name="Picture 291" descr="131-华东师范大学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15607" y="6141125"/>
            <a:ext cx="499384" cy="499383"/>
          </a:xfrm>
          <a:prstGeom prst="rect">
            <a:avLst/>
          </a:prstGeom>
        </p:spPr>
      </p:pic>
      <p:sp>
        <p:nvSpPr>
          <p:cNvPr id="294" name="文本框 293"/>
          <p:cNvSpPr txBox="1"/>
          <p:nvPr/>
        </p:nvSpPr>
        <p:spPr>
          <a:xfrm>
            <a:off x="731852" y="201681"/>
            <a:ext cx="6991350" cy="58229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/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前端交互模块</a:t>
            </a:r>
            <a:r>
              <a:rPr lang="en-US" altLang="zh-CN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(Frontend Interaction)</a:t>
            </a:r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 descr="7.按事故类型和事故原因来统计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5220"/>
            <a:ext cx="12192000" cy="43675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0">
        <p15:prstTrans prst="drap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1970"/>
            <a:chOff x="-254000" y="201683"/>
            <a:chExt cx="898070" cy="521970"/>
          </a:xfrm>
        </p:grpSpPr>
        <p:sp>
          <p:nvSpPr>
            <p:cNvPr id="11" name="圆角矩形 10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A31E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65706" y="201683"/>
              <a:ext cx="46769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5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92" name="Picture 291" descr="131-华东师范大学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15607" y="6141125"/>
            <a:ext cx="499384" cy="499383"/>
          </a:xfrm>
          <a:prstGeom prst="rect">
            <a:avLst/>
          </a:prstGeom>
        </p:spPr>
      </p:pic>
      <p:sp>
        <p:nvSpPr>
          <p:cNvPr id="294" name="文本框 293"/>
          <p:cNvSpPr txBox="1"/>
          <p:nvPr/>
        </p:nvSpPr>
        <p:spPr>
          <a:xfrm>
            <a:off x="731852" y="201681"/>
            <a:ext cx="6991350" cy="58229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/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前端交互模块</a:t>
            </a:r>
            <a:r>
              <a:rPr lang="en-US" altLang="zh-CN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(Frontend Interaction)</a:t>
            </a:r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 descr="8.按照航空公司来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4415"/>
            <a:ext cx="12192000" cy="46208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0">
        <p15:prstTrans prst="drap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1970"/>
            <a:chOff x="-254000" y="201683"/>
            <a:chExt cx="898070" cy="521970"/>
          </a:xfrm>
        </p:grpSpPr>
        <p:sp>
          <p:nvSpPr>
            <p:cNvPr id="11" name="圆角矩形 10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A31E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65706" y="201683"/>
              <a:ext cx="46769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5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92" name="Picture 291" descr="131-华东师范大学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15607" y="6141125"/>
            <a:ext cx="499384" cy="499383"/>
          </a:xfrm>
          <a:prstGeom prst="rect">
            <a:avLst/>
          </a:prstGeom>
        </p:spPr>
      </p:pic>
      <p:sp>
        <p:nvSpPr>
          <p:cNvPr id="294" name="文本框 293"/>
          <p:cNvSpPr txBox="1"/>
          <p:nvPr/>
        </p:nvSpPr>
        <p:spPr>
          <a:xfrm>
            <a:off x="731852" y="201681"/>
            <a:ext cx="6991350" cy="58229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/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前端交互模块</a:t>
            </a:r>
            <a:r>
              <a:rPr lang="en-US" altLang="zh-CN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(Frontend Interaction)</a:t>
            </a:r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 descr="9.按照飞机制造商来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6475"/>
            <a:ext cx="12192000" cy="48444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0">
        <p15:prstTrans prst="drap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857500" y="2686050"/>
            <a:ext cx="9334500" cy="1295400"/>
          </a:xfrm>
          <a:prstGeom prst="rect">
            <a:avLst/>
          </a:prstGeom>
          <a:solidFill>
            <a:srgbClr val="A31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857500" y="4133850"/>
            <a:ext cx="8210550" cy="95250"/>
          </a:xfrm>
          <a:prstGeom prst="rect">
            <a:avLst/>
          </a:prstGeom>
          <a:solidFill>
            <a:srgbClr val="A31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</p:grpSpPr>
        <p:sp>
          <p:nvSpPr>
            <p:cNvPr id="7" name="矩形 6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solidFill>
              <a:srgbClr val="A31E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407285" y="2903577"/>
              <a:ext cx="976380" cy="11068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en-US" altLang="zh-CN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2950335" y="2918253"/>
            <a:ext cx="2620010" cy="82867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zh-CN" altLang="en-US" dirty="0">
                <a:solidFill>
                  <a:srgbClr val="FFFFFF"/>
                </a:solidFill>
              </a:rPr>
              <a:t>项目</a:t>
            </a:r>
            <a:r>
              <a:rPr lang="zh-CN" altLang="en-US" dirty="0">
                <a:solidFill>
                  <a:srgbClr val="FFFFFF"/>
                </a:solidFill>
              </a:rPr>
              <a:t>演示</a:t>
            </a:r>
            <a:endParaRPr lang="zh-CN" alt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0">
        <p15:prstTrans prst="drape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9" grpId="0" bldLvl="0" animBg="1"/>
      <p:bldP spid="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10800000">
            <a:off x="0" y="-7"/>
            <a:ext cx="12192000" cy="2426618"/>
          </a:xfrm>
          <a:prstGeom prst="rect">
            <a:avLst/>
          </a:prstGeom>
          <a:solidFill>
            <a:srgbClr val="A31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 rot="10800000">
            <a:off x="0" y="2493941"/>
            <a:ext cx="12192000" cy="70698"/>
          </a:xfrm>
          <a:prstGeom prst="rect">
            <a:avLst/>
          </a:prstGeom>
          <a:solidFill>
            <a:srgbClr val="A31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536239" y="3909427"/>
            <a:ext cx="5119523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b="1" dirty="0">
                <a:solidFill>
                  <a:srgbClr val="A31E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感谢垂听</a:t>
            </a:r>
            <a:endParaRPr lang="zh-CN" altLang="en-US" sz="6600" b="1" dirty="0">
              <a:solidFill>
                <a:srgbClr val="A31E2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23851" y="-24013"/>
            <a:ext cx="11544299" cy="3154706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>
            <a:defPPr>
              <a:defRPr lang="zh-CN"/>
            </a:defPPr>
            <a:lvl1pPr algn="ctr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dist"/>
            <a:r>
              <a:rPr lang="en-US" altLang="zh-CN" sz="19900" b="1" dirty="0">
                <a:solidFill>
                  <a:schemeClr val="bg1">
                    <a:alpha val="10000"/>
                  </a:schemeClr>
                </a:solidFill>
              </a:rPr>
              <a:t>THANKS</a:t>
            </a:r>
            <a:endParaRPr lang="zh-CN" altLang="en-US" sz="19900" b="1" dirty="0">
              <a:solidFill>
                <a:schemeClr val="bg1">
                  <a:alpha val="10000"/>
                </a:schemeClr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876405" y="1196335"/>
            <a:ext cx="2439190" cy="2439192"/>
            <a:chOff x="5007734" y="902247"/>
            <a:chExt cx="2543685" cy="2543686"/>
          </a:xfrm>
        </p:grpSpPr>
        <p:sp>
          <p:nvSpPr>
            <p:cNvPr id="8" name="椭圆 7"/>
            <p:cNvSpPr/>
            <p:nvPr/>
          </p:nvSpPr>
          <p:spPr>
            <a:xfrm>
              <a:off x="5007734" y="902247"/>
              <a:ext cx="2543685" cy="2543686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E8E8E8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139700" dist="38100" dir="5400000" algn="t" rotWithShape="0">
                <a:prstClr val="black">
                  <a:alpha val="1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 rot="10800000">
              <a:off x="5160137" y="1054647"/>
              <a:ext cx="2213120" cy="2213120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E8E8E8"/>
                </a:gs>
              </a:gsLst>
              <a:lin ang="5400000" scaled="1"/>
              <a:tileRect/>
            </a:gradFill>
            <a:ln>
              <a:noFill/>
            </a:ln>
            <a:effectLst>
              <a:innerShdw blurRad="88900">
                <a:prstClr val="black">
                  <a:alpha val="1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 rot="10800000">
              <a:off x="5253394" y="1176935"/>
              <a:ext cx="2052364" cy="2052365"/>
            </a:xfrm>
            <a:prstGeom prst="ellipse">
              <a:avLst/>
            </a:prstGeom>
            <a:blipFill dpi="0" rotWithShape="0">
              <a:blip r:embed="rId1" cstate="print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椭圆 19"/>
          <p:cNvSpPr/>
          <p:nvPr/>
        </p:nvSpPr>
        <p:spPr>
          <a:xfrm>
            <a:off x="4830714" y="1181254"/>
            <a:ext cx="2490717" cy="249071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7" name="Picture 36" descr="131-华东师范大学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2582" y="1213598"/>
            <a:ext cx="2426030" cy="2426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ferris dir="l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1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2" grpId="0"/>
      <p:bldP spid="19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389.7257480314961,&quot;left&quot;:136.8596062992126,&quot;top&quot;:97.55,&quot;width&quot;:823.1403937007874}"/>
</p:tagLst>
</file>

<file path=ppt/tags/tag2.xml><?xml version="1.0" encoding="utf-8"?>
<p:tagLst xmlns:p="http://schemas.openxmlformats.org/presentationml/2006/main">
  <p:tag name="KSO_WM_DIAGRAM_VIRTUALLY_FRAME" val="{&quot;height&quot;:389.7257480314961,&quot;left&quot;:136.8596062992126,&quot;top&quot;:97.55,&quot;width&quot;:823.1403937007874}"/>
</p:tagLst>
</file>

<file path=ppt/tags/tag3.xml><?xml version="1.0" encoding="utf-8"?>
<p:tagLst xmlns:p="http://schemas.openxmlformats.org/presentationml/2006/main">
  <p:tag name="KSO_WM_DIAGRAM_VIRTUALLY_FRAME" val="{&quot;height&quot;:389.7257480314961,&quot;left&quot;:136.8596062992126,&quot;top&quot;:97.55,&quot;width&quot;:823.1403937007874}"/>
</p:tagLst>
</file>

<file path=ppt/tags/tag4.xml><?xml version="1.0" encoding="utf-8"?>
<p:tagLst xmlns:p="http://schemas.openxmlformats.org/presentationml/2006/main">
  <p:tag name="KSO_WM_DIAGRAM_VIRTUALLY_FRAME" val="{&quot;height&quot;:389.7257480314961,&quot;left&quot;:136.8596062992126,&quot;top&quot;:97.55,&quot;width&quot;:823.1403937007874}"/>
</p:tagLst>
</file>

<file path=ppt/tags/tag5.xml><?xml version="1.0" encoding="utf-8"?>
<p:tagLst xmlns:p="http://schemas.openxmlformats.org/presentationml/2006/main">
  <p:tag name="KSO_WM_DIAGRAM_VIRTUALLY_FRAME" val="{&quot;height&quot;:389.7257480314961,&quot;left&quot;:136.8596062992126,&quot;top&quot;:97.55,&quot;width&quot;:823.1403937007874}"/>
</p:tagLst>
</file>

<file path=ppt/tags/tag6.xml><?xml version="1.0" encoding="utf-8"?>
<p:tagLst xmlns:p="http://schemas.openxmlformats.org/presentationml/2006/main">
  <p:tag name="KSO_WM_DIAGRAM_VIRTUALLY_FRAME" val="{&quot;height&quot;:389.7257480314961,&quot;left&quot;:136.8596062992126,&quot;top&quot;:97.55,&quot;width&quot;:823.1403937007874}"/>
</p:tagLst>
</file>

<file path=ppt/tags/tag7.xml><?xml version="1.0" encoding="utf-8"?>
<p:tagLst xmlns:p="http://schemas.openxmlformats.org/presentationml/2006/main">
  <p:tag name="KSO_WM_DIAGRAM_VIRTUALLY_FRAME" val="{&quot;height&quot;:389.7257480314961,&quot;left&quot;:136.8596062992126,&quot;top&quot;:97.55,&quot;width&quot;:823.1403937007874}"/>
</p:tagLst>
</file>

<file path=ppt/tags/tag8.xml><?xml version="1.0" encoding="utf-8"?>
<p:tagLst xmlns:p="http://schemas.openxmlformats.org/presentationml/2006/main">
  <p:tag name="KSO_WM_DIAGRAM_VIRTUALLY_FRAME" val="{&quot;height&quot;:389.7257480314961,&quot;left&quot;:136.8596062992126,&quot;top&quot;:97.55,&quot;width&quot;:823.1403937007874}"/>
</p:tagLst>
</file>

<file path=ppt/tags/tag9.xml><?xml version="1.0" encoding="utf-8"?>
<p:tagLst xmlns:p="http://schemas.openxmlformats.org/presentationml/2006/main">
  <p:tag name="KSO_WM_DIAGRAM_VIRTUALLY_FRAME" val="{&quot;height&quot;:389.7257480314961,&quot;left&quot;:136.8596062992126,&quot;top&quot;:97.55,&quot;width&quot;:823.1403937007874}"/>
</p:tagLst>
</file>

<file path=ppt/tags/tag10.xml><?xml version="1.0" encoding="utf-8"?>
<p:tagLst xmlns:p="http://schemas.openxmlformats.org/presentationml/2006/main">
  <p:tag name="KSO_WM_DIAGRAM_VIRTUALLY_FRAME" val="{&quot;height&quot;:389.7257480314961,&quot;left&quot;:136.8596062992126,&quot;top&quot;:97.55,&quot;width&quot;:823.1403937007874}"/>
</p:tagLst>
</file>

<file path=ppt/tags/tag11.xml><?xml version="1.0" encoding="utf-8"?>
<p:tagLst xmlns:p="http://schemas.openxmlformats.org/presentationml/2006/main">
  <p:tag name="KSO_WM_DIAGRAM_VIRTUALLY_FRAME" val="{&quot;height&quot;:389.7257480314961,&quot;left&quot;:136.8596062992126,&quot;top&quot;:97.55,&quot;width&quot;:823.1403937007874}"/>
</p:tagLst>
</file>

<file path=ppt/tags/tag12.xml><?xml version="1.0" encoding="utf-8"?>
<p:tagLst xmlns:p="http://schemas.openxmlformats.org/presentationml/2006/main">
  <p:tag name="KSO_WM_DIAGRAM_VIRTUALLY_FRAME" val="{&quot;height&quot;:389.7257480314961,&quot;left&quot;:136.8596062992126,&quot;top&quot;:97.55,&quot;width&quot;:823.1403937007874}"/>
</p:tagLst>
</file>

<file path=ppt/tags/tag13.xml><?xml version="1.0" encoding="utf-8"?>
<p:tagLst xmlns:p="http://schemas.openxmlformats.org/presentationml/2006/main">
  <p:tag name="KSO_WM_DIAGRAM_VIRTUALLY_FRAME" val="{&quot;height&quot;:389.7257480314961,&quot;left&quot;:136.8596062992126,&quot;top&quot;:97.55,&quot;width&quot;:823.1403937007874}"/>
</p:tagLst>
</file>

<file path=ppt/tags/tag14.xml><?xml version="1.0" encoding="utf-8"?>
<p:tagLst xmlns:p="http://schemas.openxmlformats.org/presentationml/2006/main">
  <p:tag name="KSO_WM_DIAGRAM_VIRTUALLY_FRAME" val="{&quot;height&quot;:389.7257480314961,&quot;left&quot;:136.8596062992126,&quot;top&quot;:97.55,&quot;width&quot;:823.1403937007874}"/>
</p:tagLst>
</file>

<file path=ppt/tags/tag15.xml><?xml version="1.0" encoding="utf-8"?>
<p:tagLst xmlns:p="http://schemas.openxmlformats.org/presentationml/2006/main">
  <p:tag name="KSO_WM_DIAGRAM_VIRTUALLY_FRAME" val="{&quot;height&quot;:389.7257480314961,&quot;left&quot;:136.8596062992126,&quot;top&quot;:97.55,&quot;width&quot;:823.1403937007874}"/>
</p:tagLst>
</file>

<file path=ppt/tags/tag16.xml><?xml version="1.0" encoding="utf-8"?>
<p:tagLst xmlns:p="http://schemas.openxmlformats.org/presentationml/2006/main">
  <p:tag name="KSO_WM_DIAGRAM_VIRTUALLY_FRAME" val="{&quot;height&quot;:389.7257480314961,&quot;left&quot;:136.8596062992126,&quot;top&quot;:97.55,&quot;width&quot;:823.1403937007874}"/>
</p:tagLst>
</file>

<file path=ppt/tags/tag17.xml><?xml version="1.0" encoding="utf-8"?>
<p:tagLst xmlns:p="http://schemas.openxmlformats.org/presentationml/2006/main">
  <p:tag name="KSO_WM_DIAGRAM_VIRTUALLY_FRAME" val="{&quot;height&quot;:389.7257480314961,&quot;left&quot;:136.8596062992126,&quot;top&quot;:97.55,&quot;width&quot;:823.1403937007874}"/>
</p:tagLst>
</file>

<file path=ppt/tags/tag18.xml><?xml version="1.0" encoding="utf-8"?>
<p:tagLst xmlns:p="http://schemas.openxmlformats.org/presentationml/2006/main">
  <p:tag name="KSO_WM_DIAGRAM_VIRTUALLY_FRAME" val="{&quot;height&quot;:389.7257480314961,&quot;left&quot;:136.8596062992126,&quot;top&quot;:97.55,&quot;width&quot;:823.1403937007874}"/>
</p:tagLst>
</file>

<file path=ppt/tags/tag19.xml><?xml version="1.0" encoding="utf-8"?>
<p:tagLst xmlns:p="http://schemas.openxmlformats.org/presentationml/2006/main">
  <p:tag name="KSO_WM_DIAGRAM_VIRTUALLY_FRAME" val="{&quot;height&quot;:389.7257480314961,&quot;left&quot;:136.8596062992126,&quot;top&quot;:97.55,&quot;width&quot;:823.1403937007874}"/>
</p:tagLst>
</file>

<file path=ppt/tags/tag20.xml><?xml version="1.0" encoding="utf-8"?>
<p:tagLst xmlns:p="http://schemas.openxmlformats.org/presentationml/2006/main">
  <p:tag name="KSO_WM_DIAGRAM_VIRTUALLY_FRAME" val="{&quot;height&quot;:389.7257480314961,&quot;left&quot;:136.8596062992126,&quot;top&quot;:97.55,&quot;width&quot;:823.1403937007874}"/>
</p:tagLst>
</file>

<file path=ppt/tags/tag21.xml><?xml version="1.0" encoding="utf-8"?>
<p:tagLst xmlns:p="http://schemas.openxmlformats.org/presentationml/2006/main">
  <p:tag name="KSO_WM_DIAGRAM_VIRTUALLY_FRAME" val="{&quot;height&quot;:389.7257480314961,&quot;left&quot;:136.8596062992126,&quot;top&quot;:97.55,&quot;width&quot;:823.1403937007874}"/>
</p:tagLst>
</file>

<file path=ppt/tags/tag22.xml><?xml version="1.0" encoding="utf-8"?>
<p:tagLst xmlns:p="http://schemas.openxmlformats.org/presentationml/2006/main">
  <p:tag name="KSO_WM_DIAGRAM_VIRTUALLY_FRAME" val="{&quot;height&quot;:389.7257480314961,&quot;left&quot;:136.8596062992126,&quot;top&quot;:97.55,&quot;width&quot;:823.1403937007874}"/>
</p:tagLst>
</file>

<file path=ppt/tags/tag23.xml><?xml version="1.0" encoding="utf-8"?>
<p:tagLst xmlns:p="http://schemas.openxmlformats.org/presentationml/2006/main">
  <p:tag name="COMMONDATA" val="eyJoZGlkIjoiMmRmM2E0MjFjMThkOTc2Y2NmMWM5MWNhZmFkOTZlNWM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1126</Words>
  <Application>WPS 演示</Application>
  <PresentationFormat>宽屏</PresentationFormat>
  <Paragraphs>148</Paragraphs>
  <Slides>23</Slides>
  <Notes>24</Notes>
  <HiddenSlides>0</HiddenSlides>
  <MMClips>1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6" baseType="lpstr">
      <vt:lpstr>Arial</vt:lpstr>
      <vt:lpstr>宋体</vt:lpstr>
      <vt:lpstr>Wingdings</vt:lpstr>
      <vt:lpstr>微软雅黑</vt:lpstr>
      <vt:lpstr>兰亭黑-简 中黑</vt:lpstr>
      <vt:lpstr>黑体</vt:lpstr>
      <vt:lpstr>Gotham Bold</vt:lpstr>
      <vt:lpstr>兰亭黑-简 纤黑</vt:lpstr>
      <vt:lpstr>Calibri</vt:lpstr>
      <vt:lpstr>Arial Unicode MS</vt:lpstr>
      <vt:lpstr>Calibri Light</vt:lpstr>
      <vt:lpstr>Segoe Print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基础架构处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淘宝店铺:想搞设计</dc:title>
  <dc:creator>淘宝店铺:想搞设计</dc:creator>
  <cp:keywords>淘宝店铺:想搞设计</cp:keywords>
  <dc:description>淘宝店铺:想搞设计</dc:description>
  <dc:subject>淘宝店铺:想搞设计</dc:subject>
  <cp:category>淘宝店铺:想搞设计</cp:category>
  <cp:lastModifiedBy>刘子阳</cp:lastModifiedBy>
  <cp:revision>186</cp:revision>
  <dcterms:created xsi:type="dcterms:W3CDTF">2017-04-21T07:43:00Z</dcterms:created>
  <dcterms:modified xsi:type="dcterms:W3CDTF">2026-01-09T15:54:13Z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FFA4549F070C4A53B6BAC6E94A00B4DD_13</vt:lpwstr>
  </property>
</Properties>
</file>